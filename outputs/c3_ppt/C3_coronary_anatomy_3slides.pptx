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614f3b016146b9" /><Relationship Type="http://schemas.openxmlformats.org/officeDocument/2006/relationships/extended-properties" Target="/docProps/app.xml" Id="Rc1872bddf45b450c" /><Relationship Type="http://schemas.openxmlformats.org/officeDocument/2006/relationships/officeDocument" Target="/ppt/presentation.xml" Id="R6a561cd5593e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e68b8b0db4bc8"/>
  </p:sldMasterIdLst>
  <p:notesMasterIdLst>
    <p:notesMasterId xmlns:r="http://schemas.openxmlformats.org/officeDocument/2006/relationships" r:id="R9bd88d4686ac4294"/>
  </p:notesMasterIdLst>
  <p:sldIdLst>
    <p:sldId xmlns:r="http://schemas.openxmlformats.org/officeDocument/2006/relationships" id="256" r:id="R516c37b9ff3a4143"/>
    <p:sldId xmlns:r="http://schemas.openxmlformats.org/officeDocument/2006/relationships" id="257" r:id="R677349cc40744b60"/>
    <p:sldId xmlns:r="http://schemas.openxmlformats.org/officeDocument/2006/relationships" id="258" r:id="R1ea51b24b4334f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e68b8b0db4bc8" /><Relationship Type="http://schemas.openxmlformats.org/officeDocument/2006/relationships/theme" Target="/ppt/theme/theme1.xml" Id="R7cf01c47a1724e2c" /><Relationship Type="http://schemas.openxmlformats.org/officeDocument/2006/relationships/notesMaster" Target="/ppt/notesMasters/notesMaster1.xml" Id="R9bd88d4686ac4294" /><Relationship Type="http://schemas.openxmlformats.org/officeDocument/2006/relationships/presProps" Target="/ppt/presProps.xml" Id="Rd159e8a098244dac" /><Relationship Type="http://schemas.openxmlformats.org/officeDocument/2006/relationships/viewProps" Target="/ppt/viewProps.xml" Id="R0ea00fe18e5d49c5" /><Relationship Type="http://schemas.openxmlformats.org/officeDocument/2006/relationships/tableStyles" Target="/ppt/tableStyles.xml" Id="Rd97e0dd9b8fb4621" /><Relationship Type="http://schemas.openxmlformats.org/officeDocument/2006/relationships/slide" Target="/ppt/slides/slide1.xml" Id="R516c37b9ff3a4143" /><Relationship Type="http://schemas.openxmlformats.org/officeDocument/2006/relationships/slide" Target="/ppt/slides/slide2.xml" Id="R677349cc40744b60" /><Relationship Type="http://schemas.openxmlformats.org/officeDocument/2006/relationships/slide" Target="/ppt/slides/slide3.xml" Id="R1ea51b24b4334f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619fd3caea245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fda7178d484f8f" /><Relationship Type="http://schemas.openxmlformats.org/officeDocument/2006/relationships/notesMaster" Target="/ppt/notesMasters/notesMaster1.xml" Id="Rf20b933965a145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12d4bc9b024cbd" /><Relationship Type="http://schemas.openxmlformats.org/officeDocument/2006/relationships/notesMaster" Target="/ppt/notesMasters/notesMaster1.xml" Id="Rffa7fbe09a174a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85533775be4978" /><Relationship Type="http://schemas.openxmlformats.org/officeDocument/2006/relationships/notesMaster" Target="/ppt/notesMasters/notesMaster1.xml" Id="R025a8a19cce8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c35a63f28f432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03BE0EE-2F6E-49D9-9B82-81F988A8327F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03CB39C-38A2-4E33-BF92-CECC556C882A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AEED54-D264-4BE7-B6AE-564FA019FACD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BCCAC9-1909-4563-B7A6-1FEB6ED5228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48B311-ED9B-4733-BC2E-DDB8AA54AD05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99fae10e704630" /><Relationship Type="http://schemas.openxmlformats.org/officeDocument/2006/relationships/slideLayout" Target="/ppt/slideLayouts/slideLayout2.xml" Id="Rae699918d58d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D668860-C7AA-4452-B71C-7A4CC9AFAD1C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699918d58d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e415df166a4034" /><Relationship Type="http://schemas.openxmlformats.org/officeDocument/2006/relationships/image" Target="/ppt/media/image.png" Id="R8e6a69fd433749bf" /><Relationship Type="http://schemas.openxmlformats.org/officeDocument/2006/relationships/notesSlide" Target="/ppt/notesSlides/notesSlide1.xml" Id="Rd21cd0b8c4cd43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43a41bc6184398" /><Relationship Type="http://schemas.openxmlformats.org/officeDocument/2006/relationships/notesSlide" Target="/ppt/notesSlides/notesSlide2.xml" Id="Rf766c0104abf4a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0d13d935a647a3" /><Relationship Type="http://schemas.openxmlformats.org/officeDocument/2006/relationships/image" Target="/ppt/media/image.jpeg" Id="R7c62ea3f88774f1d" /><Relationship Type="http://schemas.openxmlformats.org/officeDocument/2006/relationships/notesSlide" Target="/ppt/notesSlides/notesSlide3.xml" Id="Rd2d91e0cb39a44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48B311-ED9B-4733-BC2E-DDB8AA54A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6B0FAE-10F5-401C-A020-C4051105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2F"/>
                </a:solidFill>
              </a:defRPr>
            </a:pPr>
            <a:r>
              <a:rPr sz="2550" b="1">
                <a:solidFill>
                  <a:srgbClr val="13212F"/>
                </a:solidFill>
              </a:rPr>
              <a:t>冠状动脉解剖总览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A443E-A62A-47CB-A28C-3303F972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5"/>
                </a:solidFill>
              </a:defRPr>
            </a:pPr>
            <a:r>
              <a:rPr sz="1125" b="0">
                <a:solidFill>
                  <a:srgbClr val="5B6675"/>
                </a:solidFill>
              </a:rPr>
              <a:t>C3.pdf | Coronary artery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E2C89A-72BB-4A65-891C-A2ED21C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a69fd433749bf"/>
          <a:stretch xmlns:a="http://schemas.openxmlformats.org/drawingml/2006/main"/>
        </p:blipFill>
        <p:spPr>
          <a:xfrm xmlns:a="http://schemas.openxmlformats.org/drawingml/2006/main">
            <a:off x="6705600" y="1730019"/>
            <a:ext cx="4762500" cy="383611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F7A70-F10F-44C3-8509-94D9F91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1447800" cy="3619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91C1C"/>
                </a:solidFill>
              </a:defRPr>
            </a:pPr>
            <a:r>
              <a:rPr sz="1350" b="1">
                <a:solidFill>
                  <a:srgbClr val="B91C1C"/>
                </a:solidFill>
              </a:rPr>
              <a:t>终末动脉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1CA67-EDB7-4613-8AB4-36203CE1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543050"/>
            <a:ext cx="1447800" cy="3619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BEAFE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舒张期供血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792C0-5F72-4E15-8D15-24440E3F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43050"/>
            <a:ext cx="1447800" cy="36195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CCFBF1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主动脉根部起源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36A17-B0AE-4C1C-B556-6585210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2F"/>
                </a:solidFill>
              </a:defRPr>
            </a:pPr>
            <a:r>
              <a:rPr sz="1875" b="1">
                <a:solidFill>
                  <a:srgbClr val="13212F"/>
                </a:solidFill>
              </a:rPr>
              <a:t>两大主干入口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F3EDB-619F-4434-A994-6B3C640A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33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12F"/>
                </a:solidFill>
              </a:defRPr>
            </a:pPr>
            <a:r>
              <a:rPr sz="1650" b="0">
                <a:solidFill>
                  <a:srgbClr val="13212F"/>
                </a:solidFill>
              </a:rPr>
              <a:t>Left main stem 分为 LAD 与 LCx；RCA 单独起源于主动脉根部。冠脉主要在心脏舒张期获得灌注，因此心率、舒张压和灌注压会影响心肌供血。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CDEA9-3BCC-438B-A8CF-BEA5122D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9CF995-0C3C-4C23-A1FC-E886AE53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334000" cy="11620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03EEB-B5DC-4091-8D3E-1DEA2134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4876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学习重点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6E5AB-5ECF-489E-87A1-26375949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487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263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把“血管 - 分支 - 供血区域 - 相关心梗/传导异常”连在一起记忆，能更快从 ECG 区域定位推回可能受累冠脉。</a:t>
            </a:r>
          </a:p>
        </p:txBody>
      </p:sp>
    </p:spTree>
    <p:extLst>
      <p:ext uri="{BB962C8B-B14F-4D97-AF65-F5344CB8AC3E}">
        <p14:creationId xmlns:p14="http://schemas.microsoft.com/office/powerpoint/2010/main" val="9728042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48B311-ED9B-4733-BC2E-DDB8AA54A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9DCD8-9D95-491B-8AEE-519930A2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2F"/>
                </a:solidFill>
              </a:defRPr>
            </a:pPr>
            <a:r>
              <a:rPr sz="2550" b="1">
                <a:solidFill>
                  <a:srgbClr val="13212F"/>
                </a:solidFill>
              </a:rPr>
              <a:t>三大冠脉：分支、供血与心梗定位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15440-AD62-4845-A829-A2EE129C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5"/>
                </a:solidFill>
              </a:defRPr>
            </a:pPr>
            <a:r>
              <a:rPr sz="1125" b="0">
                <a:solidFill>
                  <a:srgbClr val="5B6675"/>
                </a:solidFill>
              </a:rPr>
              <a:t>C3.pdf | Coronary artery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2EEF8-0F9E-4810-A9BE-E33EDD5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FE627-1764-4FB7-906F-5A499745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1257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C0F64E-3657-4E80-B2B8-96F2647D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28800"/>
            <a:ext cx="1066800" cy="7239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0">
            <a:solidFill>
              <a:srgbClr val="DBEAF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CA566-AE95-4848-B024-813DA13A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D4ED8"/>
                </a:solidFill>
              </a:defRPr>
            </a:pPr>
            <a:r>
              <a:rPr sz="2250" b="1">
                <a:solidFill>
                  <a:srgbClr val="1D4ED8"/>
                </a:solidFill>
              </a:rPr>
              <a:t>RCA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BA11C-6F68-497A-B4C6-79237104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90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主要分支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59294-91BF-4525-AEB9-D6CD935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0859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SA nodal a.、right marginal a.、AV nodal a.、PDA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11778-6C72-44CD-A2D6-EE5FCA59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供血区域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42225-329A-4827-839E-C4F79A92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85975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右房、右室、后间隔、双室下壁；常供应 SA/AV node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EFD26-F6DB-48D5-B99A-1321D727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相关表现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26410-83F8-4932-93F7-CF336C72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85975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下壁/后壁/RV MI；近端 RCA 可见逸搏、AV block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2E9BC3-B05A-4DEA-B2AF-47F627C5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11125200" cy="1257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89154-9A5B-4488-9B1B-B8B7415F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1066800" cy="7239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14473-F1B9-470C-9A1F-72C136FB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91C1C"/>
                </a:solidFill>
              </a:defRPr>
            </a:pPr>
            <a:r>
              <a:rPr sz="2250" b="1">
                <a:solidFill>
                  <a:srgbClr val="B91C1C"/>
                </a:solidFill>
              </a:rPr>
              <a:t>LAD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827DF-0445-4CBB-9B60-B9445FBD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314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主要分支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F5414B-70A8-475E-BEEF-D11DB80A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diagonal branches、septal branches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54691-E932-4F9F-BADE-B2A32D56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314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供血区域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B4835-E70B-4D39-83BF-36EEB6B0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609975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前外侧 LV、前 2/3 室间隔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3A9469-1763-4761-968F-83139D8B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相关表现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0B127-2C52-4F86-A7BC-A1206E37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前壁/侧壁/间隔 MI；可伴 RBBB/LBBB 或 complete heart block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9BF71-D49E-46F9-83AC-26F74BE9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10100"/>
            <a:ext cx="11125200" cy="12573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EDD94B-6D71-4A59-A2C3-29222A2A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1066800" cy="7239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0">
            <a:solidFill>
              <a:srgbClr val="CCFBF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59A81-FA4C-461E-990B-C43C8676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38725"/>
            <a:ext cx="1066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766E"/>
                </a:solidFill>
              </a:defRPr>
            </a:pPr>
            <a:r>
              <a:rPr sz="2250" b="1">
                <a:solidFill>
                  <a:srgbClr val="0F766E"/>
                </a:solidFill>
              </a:rPr>
              <a:t>LCx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2B409-2DFE-4A85-B0F0-A699F5F95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838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主要分支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5A3C3-1DB2-4139-BFCC-B271113C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133975"/>
            <a:ext cx="2476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93755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obtuse marginal branches；左优势时可发出 PDA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1C1518-B03B-4377-A2CF-84B3703C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38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供血区域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1404FB-D28A-4B81-B613-44D22752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133975"/>
            <a:ext cx="2647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左房、后外侧 LV；左优势时供应下壁/后间隔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0C571C-C99B-45A1-9917-A0F38605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38700"/>
            <a:ext cx="1485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6675"/>
                </a:solidFill>
              </a:defRPr>
            </a:pPr>
            <a:r>
              <a:rPr sz="1275" b="1">
                <a:solidFill>
                  <a:srgbClr val="5B6675"/>
                </a:solidFill>
              </a:rPr>
              <a:t>相关表现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77AF68-3AC3-48D5-A855-55157BCD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133975"/>
            <a:ext cx="3028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后壁/侧壁；左优势闭塞可造成更广泛 LV 损伤</a:t>
            </a:r>
          </a:p>
        </p:txBody>
      </p:sp>
    </p:spTree>
    <p:extLst>
      <p:ext uri="{BB962C8B-B14F-4D97-AF65-F5344CB8AC3E}">
        <p14:creationId xmlns:p14="http://schemas.microsoft.com/office/powerpoint/2010/main" val="2176009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F48B311-ED9B-4733-BC2E-DDB8AA54AD0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40C86-75F0-4847-BC72-4ED47263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2F"/>
                </a:solidFill>
              </a:defRPr>
            </a:pPr>
            <a:r>
              <a:rPr sz="2550" b="1">
                <a:solidFill>
                  <a:srgbClr val="13212F"/>
                </a:solidFill>
              </a:rPr>
              <a:t>冠脉优势型：由 PDA 来源决定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CC5C8-BFEE-4D90-B0DB-BDBF305B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675"/>
                </a:solidFill>
              </a:defRPr>
            </a:pPr>
            <a:r>
              <a:rPr sz="1125" b="0">
                <a:solidFill>
                  <a:srgbClr val="5B6675"/>
                </a:solidFill>
              </a:rPr>
              <a:t>C3.pdf | Coronary artery anatomy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3B4C6D-B9DB-440B-A516-EE0728D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01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A"/>
          </a:solidFill>
          <a:ln xmlns:a="http://schemas.openxmlformats.org/drawingml/2006/main" w="0">
            <a:solidFill>
              <a:srgbClr val="D8E1EA"/>
            </a:solidFill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2ea3f88774f1d"/>
          <a:srcRect xmlns:a="http://schemas.openxmlformats.org/drawingml/2006/main" l="0" t="28898" r="0" b="288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305300"/>
            <a:ext cx="11125200" cy="1676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D5504-F92D-4ECD-9699-2BC7684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39FA3-5FCB-4725-8D88-4A533B43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352800" cy="17716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DED16-CBC1-465D-8B07-4D006F5F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右优势：约 70%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525ED-5531-4692-9527-519C7C17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895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PDA 来自 RCA。RCA 血栓可影响 RV、下壁/后壁，以及 SA 或 AV node；怀疑 RV infarct 时需谨慎使用 GTN。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79C121-0A12-47B3-9CDF-4919828E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8115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87C54-5C8F-4249-8A6F-2EC998FD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81150"/>
            <a:ext cx="3352800" cy="17716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EF79B-AB44-4EC8-93ED-A46DFBAB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771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</a:defRPr>
            </a:pPr>
            <a:r>
              <a:rPr sz="1800" b="1">
                <a:solidFill>
                  <a:srgbClr val="B91C1C"/>
                </a:solidFill>
              </a:rPr>
              <a:t>左优势：约 10%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230632-BC25-4A48-B74A-6895BDA8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71700"/>
            <a:ext cx="2895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PDA 来自 LCx。若左侧优势且发生闭塞，可能造成更广泛的后壁、下壁、侧壁 LV 损伤，并累及室间隔。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158D3F-DC75-4A6C-BB04-1D7EFD4A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571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04AE73-25E7-4B99-A5C6-1030BAE2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81150"/>
            <a:ext cx="3352800" cy="17716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C185E-D938-4515-A260-7D7777AA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71650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混合供血：约 20%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B829F0-D164-4CB3-8412-693659B3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71700"/>
            <a:ext cx="28956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12F"/>
                </a:solidFill>
              </a:defRPr>
            </a:pPr>
            <a:r>
              <a:rPr sz="1425" b="0">
                <a:solidFill>
                  <a:srgbClr val="13212F"/>
                </a:solidFill>
              </a:rPr>
              <a:t>PDA 或后下壁供血由 RCA 与 LCx 共同参与。定位时应结合 ECG 区域、血流动力学和传导改变。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37F8F-229A-4824-8230-160AB9EB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2F"/>
                </a:solidFill>
              </a:defRPr>
            </a:pPr>
            <a:r>
              <a:rPr sz="1650" b="1">
                <a:solidFill>
                  <a:srgbClr val="13212F"/>
                </a:solidFill>
              </a:rPr>
              <a:t>临床记忆线索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7FBCB-A475-4F93-8DDC-66A1FEA3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38550"/>
            <a:ext cx="792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solidFill>
              <a:srgbClr val="FFFFFF">
                <a:alpha val="0"/>
              </a:srgbClr>
            </a:solidFill>
          </a:ln>
        </p:spPr>
        <p:txBody>
          <a:bodyPr xmlns:a="http://schemas.openxmlformats.org/drawingml/2006/main" lIns="0" tIns="0" rIns="0" bIns="0" anchor="t">
            <a:normAutofit fontScale="8382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12F"/>
                </a:solidFill>
              </a:defRPr>
            </a:pPr>
            <a:r>
              <a:rPr sz="1575" b="0">
                <a:solidFill>
                  <a:srgbClr val="13212F"/>
                </a:solidFill>
              </a:rPr>
              <a:t>先看 ECG 受累区域，再推测冠脉；同时判断 PDA 来源，因为优势型会改变下壁/后壁梗死时可能伴随的结构损伤。</a:t>
            </a:r>
          </a:p>
        </p:txBody>
      </p:sp>
    </p:spTree>
    <p:extLst>
      <p:ext uri="{BB962C8B-B14F-4D97-AF65-F5344CB8AC3E}">
        <p14:creationId xmlns:p14="http://schemas.microsoft.com/office/powerpoint/2010/main" val="281518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2026-04-26T01:49:02.7500000Z</dcterms:created>
  <dcterms:modified xsi:type="dcterms:W3CDTF">2026-04-26T01:49:02.7500000Z</dcterms:modified>
</coreProperties>
</file>